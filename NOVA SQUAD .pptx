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4"/>
  </p:notesMasterIdLst>
  <p:handoutMasterIdLst>
    <p:handoutMasterId r:id="rId15"/>
  </p:handoutMasterIdLst>
  <p:sldIdLst>
    <p:sldId id="256" r:id="rId5"/>
    <p:sldId id="262" r:id="rId6"/>
    <p:sldId id="295" r:id="rId7"/>
    <p:sldId id="301" r:id="rId8"/>
    <p:sldId id="297" r:id="rId9"/>
    <p:sldId id="296" r:id="rId10"/>
    <p:sldId id="298" r:id="rId11"/>
    <p:sldId id="300"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78" d="100"/>
          <a:sy n="78" d="100"/>
        </p:scale>
        <p:origin x="878" y="6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hna kotian" userId="fc524077ec7ad0ed" providerId="LiveId" clId="{40340967-F7B4-478C-9AA0-FCD8AFD47857}"/>
    <pc:docChg chg="modSld">
      <pc:chgData name="Meghna kotian" userId="fc524077ec7ad0ed" providerId="LiveId" clId="{40340967-F7B4-478C-9AA0-FCD8AFD47857}" dt="2026-07-26T05:32:34.878" v="37" actId="20577"/>
      <pc:docMkLst>
        <pc:docMk/>
      </pc:docMkLst>
      <pc:sldChg chg="modSp mod">
        <pc:chgData name="Meghna kotian" userId="fc524077ec7ad0ed" providerId="LiveId" clId="{40340967-F7B4-478C-9AA0-FCD8AFD47857}" dt="2026-07-26T05:32:34.878" v="37" actId="20577"/>
        <pc:sldMkLst>
          <pc:docMk/>
          <pc:sldMk cId="1642425379" sldId="256"/>
        </pc:sldMkLst>
        <pc:spChg chg="mod">
          <ac:chgData name="Meghna kotian" userId="fc524077ec7ad0ed" providerId="LiveId" clId="{40340967-F7B4-478C-9AA0-FCD8AFD47857}" dt="2026-07-25T19:19:21.183" v="0" actId="20577"/>
          <ac:spMkLst>
            <pc:docMk/>
            <pc:sldMk cId="1642425379" sldId="256"/>
            <ac:spMk id="7" creationId="{C749FAD3-44EC-41AA-B1F1-9CF9088D4C29}"/>
          </ac:spMkLst>
        </pc:spChg>
        <pc:spChg chg="mod">
          <ac:chgData name="Meghna kotian" userId="fc524077ec7ad0ed" providerId="LiveId" clId="{40340967-F7B4-478C-9AA0-FCD8AFD47857}" dt="2026-07-26T05:32:34.878" v="37" actId="20577"/>
          <ac:spMkLst>
            <pc:docMk/>
            <pc:sldMk cId="1642425379" sldId="256"/>
            <ac:spMk id="9" creationId="{3B5E6631-173E-8169-A1A3-B34DF06D5DA0}"/>
          </ac:spMkLst>
        </pc:spChg>
      </pc:sldChg>
      <pc:sldChg chg="modSp mod">
        <pc:chgData name="Meghna kotian" userId="fc524077ec7ad0ed" providerId="LiveId" clId="{40340967-F7B4-478C-9AA0-FCD8AFD47857}" dt="2026-07-25T19:20:52.369" v="7" actId="14100"/>
        <pc:sldMkLst>
          <pc:docMk/>
          <pc:sldMk cId="2436493926" sldId="276"/>
        </pc:sldMkLst>
        <pc:spChg chg="mod">
          <ac:chgData name="Meghna kotian" userId="fc524077ec7ad0ed" providerId="LiveId" clId="{40340967-F7B4-478C-9AA0-FCD8AFD47857}" dt="2026-07-25T19:20:52.369" v="7" actId="14100"/>
          <ac:spMkLst>
            <pc:docMk/>
            <pc:sldMk cId="2436493926" sldId="276"/>
            <ac:spMk id="2" creationId="{BCCAEE93-8585-46D4-A7EC-F184E317CB2E}"/>
          </ac:spMkLst>
        </pc:spChg>
      </pc:sldChg>
      <pc:sldChg chg="modSp mod">
        <pc:chgData name="Meghna kotian" userId="fc524077ec7ad0ed" providerId="LiveId" clId="{40340967-F7B4-478C-9AA0-FCD8AFD47857}" dt="2026-07-25T19:19:57.421" v="4" actId="2711"/>
        <pc:sldMkLst>
          <pc:docMk/>
          <pc:sldMk cId="4012084" sldId="295"/>
        </pc:sldMkLst>
        <pc:spChg chg="mod">
          <ac:chgData name="Meghna kotian" userId="fc524077ec7ad0ed" providerId="LiveId" clId="{40340967-F7B4-478C-9AA0-FCD8AFD47857}" dt="2026-07-25T19:19:57.421" v="4" actId="2711"/>
          <ac:spMkLst>
            <pc:docMk/>
            <pc:sldMk cId="4012084" sldId="295"/>
            <ac:spMk id="13" creationId="{612B8820-C4EC-D365-8753-3D21B8F5F082}"/>
          </ac:spMkLst>
        </pc:spChg>
      </pc:sldChg>
      <pc:sldChg chg="modSp mod">
        <pc:chgData name="Meghna kotian" userId="fc524077ec7ad0ed" providerId="LiveId" clId="{40340967-F7B4-478C-9AA0-FCD8AFD47857}" dt="2026-07-25T19:20:36.953" v="6" actId="1076"/>
        <pc:sldMkLst>
          <pc:docMk/>
          <pc:sldMk cId="3928956718" sldId="298"/>
        </pc:sldMkLst>
        <pc:spChg chg="mod">
          <ac:chgData name="Meghna kotian" userId="fc524077ec7ad0ed" providerId="LiveId" clId="{40340967-F7B4-478C-9AA0-FCD8AFD47857}" dt="2026-07-25T19:20:33.306" v="5" actId="1076"/>
          <ac:spMkLst>
            <pc:docMk/>
            <pc:sldMk cId="3928956718" sldId="298"/>
            <ac:spMk id="4" creationId="{B1F7FEB9-84E9-DFD9-F54D-8F7509C2CE6A}"/>
          </ac:spMkLst>
        </pc:spChg>
        <pc:spChg chg="mod">
          <ac:chgData name="Meghna kotian" userId="fc524077ec7ad0ed" providerId="LiveId" clId="{40340967-F7B4-478C-9AA0-FCD8AFD47857}" dt="2026-07-25T19:20:36.953" v="6" actId="1076"/>
          <ac:spMkLst>
            <pc:docMk/>
            <pc:sldMk cId="3928956718" sldId="298"/>
            <ac:spMk id="6" creationId="{CF9818BA-7415-74AF-8227-48785A04823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7/26/2026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7/26/2026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37902073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E622FF-561E-D2F0-681A-363506B31497}"/>
              </a:ext>
            </a:extLst>
          </p:cNvPr>
          <p:cNvSpPr txBox="1"/>
          <p:nvPr/>
        </p:nvSpPr>
        <p:spPr>
          <a:xfrm>
            <a:off x="1052052" y="3059668"/>
            <a:ext cx="965527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AI-Powered Urban Flood Prediction &amp; Intelligent Emergency Response System</a:t>
            </a:r>
          </a:p>
        </p:txBody>
      </p:sp>
      <p:sp>
        <p:nvSpPr>
          <p:cNvPr id="7" name="TextBox 6">
            <a:extLst>
              <a:ext uri="{FF2B5EF4-FFF2-40B4-BE49-F238E27FC236}">
                <a16:creationId xmlns:a16="http://schemas.microsoft.com/office/drawing/2014/main" id="{C749FAD3-44EC-41AA-B1F1-9CF9088D4C29}"/>
              </a:ext>
            </a:extLst>
          </p:cNvPr>
          <p:cNvSpPr txBox="1"/>
          <p:nvPr/>
        </p:nvSpPr>
        <p:spPr>
          <a:xfrm>
            <a:off x="1052052" y="648929"/>
            <a:ext cx="8947355" cy="923330"/>
          </a:xfrm>
          <a:prstGeom prst="rect">
            <a:avLst/>
          </a:prstGeom>
          <a:noFill/>
        </p:spPr>
        <p:txBody>
          <a:bodyPr wrap="square" rtlCol="0">
            <a:spAutoFit/>
          </a:bodyPr>
          <a:lstStyle/>
          <a:p>
            <a:r>
              <a:rPr lang="en-IN" sz="5400" b="1" dirty="0">
                <a:latin typeface="Times New Roman" panose="02020603050405020304" pitchFamily="18" charset="0"/>
                <a:cs typeface="Times New Roman" panose="02020603050405020304" pitchFamily="18" charset="0"/>
              </a:rPr>
              <a:t>FLOOD PULSE  AI</a:t>
            </a:r>
          </a:p>
        </p:txBody>
      </p:sp>
      <p:sp>
        <p:nvSpPr>
          <p:cNvPr id="8" name="TextBox 7">
            <a:extLst>
              <a:ext uri="{FF2B5EF4-FFF2-40B4-BE49-F238E27FC236}">
                <a16:creationId xmlns:a16="http://schemas.microsoft.com/office/drawing/2014/main" id="{20BB2C35-39AE-3E59-BD33-17E4774D4F06}"/>
              </a:ext>
            </a:extLst>
          </p:cNvPr>
          <p:cNvSpPr txBox="1"/>
          <p:nvPr/>
        </p:nvSpPr>
        <p:spPr>
          <a:xfrm>
            <a:off x="1052052" y="2575429"/>
            <a:ext cx="511277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Predict. Prevent. Protect</a:t>
            </a:r>
            <a:r>
              <a:rPr lang="en-IN" dirty="0">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3B5E6631-173E-8169-A1A3-B34DF06D5DA0}"/>
              </a:ext>
            </a:extLst>
          </p:cNvPr>
          <p:cNvSpPr txBox="1"/>
          <p:nvPr/>
        </p:nvSpPr>
        <p:spPr>
          <a:xfrm>
            <a:off x="1052052" y="3913239"/>
            <a:ext cx="10402528" cy="193899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Vertical:</a:t>
            </a:r>
            <a:r>
              <a:rPr lang="en-IN" sz="2000" dirty="0">
                <a:latin typeface="Times New Roman" panose="02020603050405020304" pitchFamily="18" charset="0"/>
                <a:cs typeface="Times New Roman" panose="02020603050405020304" pitchFamily="18" charset="0"/>
              </a:rPr>
              <a:t> AI for Smart Cities </a:t>
            </a:r>
            <a:r>
              <a:rPr lang="en-IN" sz="2000">
                <a:latin typeface="Times New Roman" panose="02020603050405020304" pitchFamily="18" charset="0"/>
                <a:cs typeface="Times New Roman" panose="02020603050405020304" pitchFamily="18" charset="0"/>
              </a:rPr>
              <a:t>and Sustainability</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Team Name:</a:t>
            </a:r>
            <a:r>
              <a:rPr lang="en-IN" sz="2000" dirty="0">
                <a:latin typeface="Times New Roman" panose="02020603050405020304" pitchFamily="18" charset="0"/>
                <a:cs typeface="Times New Roman" panose="02020603050405020304" pitchFamily="18" charset="0"/>
              </a:rPr>
              <a:t> Nova Squad</a:t>
            </a:r>
          </a:p>
          <a:p>
            <a:r>
              <a:rPr lang="en-IN" sz="2000" b="1" dirty="0">
                <a:latin typeface="Times New Roman" panose="02020603050405020304" pitchFamily="18" charset="0"/>
                <a:cs typeface="Times New Roman" panose="02020603050405020304" pitchFamily="18" charset="0"/>
              </a:rPr>
              <a:t>Team Leader:</a:t>
            </a:r>
            <a:r>
              <a:rPr lang="en-IN" sz="2000" dirty="0">
                <a:latin typeface="Times New Roman" panose="02020603050405020304" pitchFamily="18" charset="0"/>
                <a:cs typeface="Times New Roman" panose="02020603050405020304" pitchFamily="18" charset="0"/>
              </a:rPr>
              <a:t> Meghna Kotian</a:t>
            </a:r>
          </a:p>
          <a:p>
            <a:r>
              <a:rPr lang="en-IN" sz="2000" b="1" dirty="0">
                <a:latin typeface="Times New Roman" panose="02020603050405020304" pitchFamily="18" charset="0"/>
                <a:cs typeface="Times New Roman" panose="02020603050405020304" pitchFamily="18" charset="0"/>
              </a:rPr>
              <a:t>Team Members 1: </a:t>
            </a:r>
            <a:r>
              <a:rPr lang="en-IN" sz="2000" dirty="0">
                <a:latin typeface="Times New Roman" panose="02020603050405020304" pitchFamily="18" charset="0"/>
                <a:cs typeface="Times New Roman" panose="02020603050405020304" pitchFamily="18" charset="0"/>
              </a:rPr>
              <a:t>Varshitha </a:t>
            </a:r>
          </a:p>
          <a:p>
            <a:r>
              <a:rPr lang="en-IN" sz="2000" b="1" dirty="0">
                <a:latin typeface="Times New Roman" panose="02020603050405020304" pitchFamily="18" charset="0"/>
                <a:cs typeface="Times New Roman" panose="02020603050405020304" pitchFamily="18" charset="0"/>
              </a:rPr>
              <a:t>Team Members 2: </a:t>
            </a:r>
            <a:r>
              <a:rPr lang="en-IN" sz="2000" dirty="0">
                <a:latin typeface="Times New Roman" panose="02020603050405020304" pitchFamily="18" charset="0"/>
                <a:cs typeface="Times New Roman" panose="02020603050405020304" pitchFamily="18" charset="0"/>
              </a:rPr>
              <a:t>Navya </a:t>
            </a:r>
          </a:p>
          <a:p>
            <a:r>
              <a:rPr lang="en-IN" sz="2000" b="1" dirty="0">
                <a:latin typeface="Times New Roman" panose="02020603050405020304" pitchFamily="18" charset="0"/>
                <a:cs typeface="Times New Roman" panose="02020603050405020304" pitchFamily="18" charset="0"/>
              </a:rPr>
              <a:t>Team Members 3: </a:t>
            </a:r>
            <a:r>
              <a:rPr lang="en-IN" sz="2000" dirty="0">
                <a:latin typeface="Times New Roman" panose="02020603050405020304" pitchFamily="18" charset="0"/>
                <a:cs typeface="Times New Roman" panose="02020603050405020304" pitchFamily="18" charset="0"/>
              </a:rPr>
              <a:t>Varsha .N</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32BDD6CB-7CE1-240E-20CB-2169C05D3873}"/>
              </a:ext>
            </a:extLst>
          </p:cNvPr>
          <p:cNvSpPr txBox="1"/>
          <p:nvPr/>
        </p:nvSpPr>
        <p:spPr>
          <a:xfrm>
            <a:off x="1012722" y="245806"/>
            <a:ext cx="8750709"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PROBLEM STATEMENT</a:t>
            </a:r>
          </a:p>
        </p:txBody>
      </p:sp>
      <p:sp>
        <p:nvSpPr>
          <p:cNvPr id="32" name="TextBox 31">
            <a:extLst>
              <a:ext uri="{FF2B5EF4-FFF2-40B4-BE49-F238E27FC236}">
                <a16:creationId xmlns:a16="http://schemas.microsoft.com/office/drawing/2014/main" id="{1DD3E490-E4BD-7D4C-ECD6-306CD9CD4BDF}"/>
              </a:ext>
            </a:extLst>
          </p:cNvPr>
          <p:cNvSpPr txBox="1"/>
          <p:nvPr/>
        </p:nvSpPr>
        <p:spPr>
          <a:xfrm>
            <a:off x="1007806" y="1120877"/>
            <a:ext cx="10176387" cy="563231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Urban Flooding: A Critical Challenge for Smart Cities</a:t>
            </a:r>
          </a:p>
          <a:p>
            <a:r>
              <a:rPr lang="en-IN" sz="2000" dirty="0">
                <a:latin typeface="Times New Roman" panose="02020603050405020304" pitchFamily="18" charset="0"/>
                <a:cs typeface="Times New Roman" panose="02020603050405020304" pitchFamily="18" charset="0"/>
              </a:rPr>
              <a:t>Rapid urbanization, inadequate drainage infrastructure, and unpredictable weather patterns have significantly increased the occurrence of urban flooding. Most existing flood management systems are reactive, resulting in delayed emergency response, severe traffic congestion, and increased risks to public safety.</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Key Challenges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Sudden flooding disrupts transportation and daily commuting.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Emergency services experience delays due to flooded roads.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Citizens lack access to real-time flood information and safe navigation.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Municipal authorities have limited visibility into flood-prone locations.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Absence of predictive intelligence leads to delayed decision-making.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Need for the Solution</a:t>
            </a:r>
          </a:p>
          <a:p>
            <a:r>
              <a:rPr lang="en-IN" sz="2000" dirty="0">
                <a:latin typeface="Times New Roman" panose="02020603050405020304" pitchFamily="18" charset="0"/>
                <a:cs typeface="Times New Roman" panose="02020603050405020304" pitchFamily="18" charset="0"/>
              </a:rPr>
              <a:t>A smart city requires a predictive and data-driven flood management system that enables authorities to respond proactively while providing citizens with timely alerts and safer travel routes.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3920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EB826-61CA-2ABD-D043-89386CB4132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7E63927-AFAD-033B-3D7D-095A7C9A5F78}"/>
              </a:ext>
            </a:extLst>
          </p:cNvPr>
          <p:cNvSpPr txBox="1"/>
          <p:nvPr/>
        </p:nvSpPr>
        <p:spPr>
          <a:xfrm>
            <a:off x="879988" y="169295"/>
            <a:ext cx="6105832"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PROPOSED SOLUTION</a:t>
            </a:r>
          </a:p>
        </p:txBody>
      </p:sp>
      <p:sp>
        <p:nvSpPr>
          <p:cNvPr id="13" name="TextBox 12">
            <a:extLst>
              <a:ext uri="{FF2B5EF4-FFF2-40B4-BE49-F238E27FC236}">
                <a16:creationId xmlns:a16="http://schemas.microsoft.com/office/drawing/2014/main" id="{612B8820-C4EC-D365-8753-3D21B8F5F082}"/>
              </a:ext>
            </a:extLst>
          </p:cNvPr>
          <p:cNvSpPr txBox="1"/>
          <p:nvPr/>
        </p:nvSpPr>
        <p:spPr>
          <a:xfrm>
            <a:off x="894735" y="1012721"/>
            <a:ext cx="10402529" cy="5324535"/>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Flood Pulse AI </a:t>
            </a:r>
            <a:r>
              <a:rPr lang="en-IN" sz="2000" dirty="0">
                <a:latin typeface="Times New Roman" panose="02020603050405020304" pitchFamily="18" charset="0"/>
                <a:cs typeface="Times New Roman" panose="02020603050405020304" pitchFamily="18" charset="0"/>
              </a:rPr>
              <a:t>is an AI-powered web and mobile application designed to predict urban flooding and support intelligent emergency response.</a:t>
            </a:r>
          </a:p>
          <a:p>
            <a:pPr>
              <a:buNone/>
            </a:pPr>
            <a:r>
              <a:rPr lang="en-IN" sz="2000" dirty="0">
                <a:latin typeface="Times New Roman" panose="02020603050405020304" pitchFamily="18" charset="0"/>
                <a:cs typeface="Times New Roman" panose="02020603050405020304" pitchFamily="18" charset="0"/>
              </a:rPr>
              <a:t>The platform integrates weather forecasts, IoT water-level sensors, satellite and GIS data, and historical flood records to identify flood-prone areas before flooding occurs.</a:t>
            </a: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Core Functionalities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AI-based flood prediction using real-time and historical data.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Live flood-risk mapping for affected regions.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Safe route navigation based on current road conditions.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Instant emergency alerts for citizens and authorities.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AI-assisted drain blockage detection.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Citizen reporting system with GPS-enabled incident reporting.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Centralized dashboard for municipal authorities. </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Objective</a:t>
            </a:r>
          </a:p>
          <a:p>
            <a:pPr>
              <a:buNone/>
            </a:pPr>
            <a:r>
              <a:rPr lang="en-IN" sz="2000" dirty="0">
                <a:latin typeface="Times New Roman" panose="02020603050405020304" pitchFamily="18" charset="0"/>
                <a:cs typeface="Times New Roman" panose="02020603050405020304" pitchFamily="18" charset="0"/>
              </a:rPr>
              <a:t>To shift urban flood management from reactive response to proactive prediction through real-time intelligence and data-driven decision-making.</a:t>
            </a:r>
          </a:p>
        </p:txBody>
      </p:sp>
    </p:spTree>
    <p:extLst>
      <p:ext uri="{BB962C8B-B14F-4D97-AF65-F5344CB8AC3E}">
        <p14:creationId xmlns:p14="http://schemas.microsoft.com/office/powerpoint/2010/main" val="4012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7ECEE-4C73-3F84-0B8B-3615A3F951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66E358-6982-8449-B4DD-F709C2B7DEEA}"/>
              </a:ext>
            </a:extLst>
          </p:cNvPr>
          <p:cNvSpPr txBox="1"/>
          <p:nvPr/>
        </p:nvSpPr>
        <p:spPr>
          <a:xfrm>
            <a:off x="2931160" y="118497"/>
            <a:ext cx="692404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TECHNICAL APPROACH</a:t>
            </a:r>
          </a:p>
        </p:txBody>
      </p:sp>
      <p:pic>
        <p:nvPicPr>
          <p:cNvPr id="5" name="Picture 4">
            <a:extLst>
              <a:ext uri="{FF2B5EF4-FFF2-40B4-BE49-F238E27FC236}">
                <a16:creationId xmlns:a16="http://schemas.microsoft.com/office/drawing/2014/main" id="{C8B1884E-D099-3BA8-78E3-D2EA9E5EE3D7}"/>
              </a:ext>
            </a:extLst>
          </p:cNvPr>
          <p:cNvPicPr>
            <a:picLocks noChangeAspect="1"/>
          </p:cNvPicPr>
          <p:nvPr/>
        </p:nvPicPr>
        <p:blipFill>
          <a:blip r:embed="rId2"/>
          <a:stretch>
            <a:fillRect/>
          </a:stretch>
        </p:blipFill>
        <p:spPr>
          <a:xfrm>
            <a:off x="1209040" y="1003561"/>
            <a:ext cx="9649952" cy="5735942"/>
          </a:xfrm>
          <a:prstGeom prst="rect">
            <a:avLst/>
          </a:prstGeom>
        </p:spPr>
      </p:pic>
    </p:spTree>
    <p:extLst>
      <p:ext uri="{BB962C8B-B14F-4D97-AF65-F5344CB8AC3E}">
        <p14:creationId xmlns:p14="http://schemas.microsoft.com/office/powerpoint/2010/main" val="453139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82E76-9222-2887-5AC3-259DD96CD4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A213A5A-1C82-B802-E799-369D4D57B961}"/>
              </a:ext>
            </a:extLst>
          </p:cNvPr>
          <p:cNvSpPr txBox="1"/>
          <p:nvPr/>
        </p:nvSpPr>
        <p:spPr>
          <a:xfrm>
            <a:off x="7021542" y="1427760"/>
            <a:ext cx="3775587" cy="2862322"/>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System Components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Weather Forecast API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IoT Water-Level Monitoring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GIS and Satellite Data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AI Prediction Engine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Web Dashboard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Mobile Application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Emergency Notification System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Citizen Reporting Module</a:t>
            </a:r>
          </a:p>
        </p:txBody>
      </p:sp>
      <p:sp>
        <p:nvSpPr>
          <p:cNvPr id="5" name="TextBox 4">
            <a:extLst>
              <a:ext uri="{FF2B5EF4-FFF2-40B4-BE49-F238E27FC236}">
                <a16:creationId xmlns:a16="http://schemas.microsoft.com/office/drawing/2014/main" id="{8C1B24E7-DBBA-8279-196B-DD37FEA11BB5}"/>
              </a:ext>
            </a:extLst>
          </p:cNvPr>
          <p:cNvSpPr txBox="1"/>
          <p:nvPr/>
        </p:nvSpPr>
        <p:spPr>
          <a:xfrm>
            <a:off x="2644549" y="289840"/>
            <a:ext cx="7890387"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SYSTEM ARCHITECTURE</a:t>
            </a:r>
          </a:p>
        </p:txBody>
      </p:sp>
      <p:pic>
        <p:nvPicPr>
          <p:cNvPr id="7" name="Picture 6">
            <a:extLst>
              <a:ext uri="{FF2B5EF4-FFF2-40B4-BE49-F238E27FC236}">
                <a16:creationId xmlns:a16="http://schemas.microsoft.com/office/drawing/2014/main" id="{E2AFDF89-86D1-CF8C-8E86-A915BFC1A202}"/>
              </a:ext>
            </a:extLst>
          </p:cNvPr>
          <p:cNvPicPr>
            <a:picLocks noChangeAspect="1"/>
          </p:cNvPicPr>
          <p:nvPr/>
        </p:nvPicPr>
        <p:blipFill>
          <a:blip r:embed="rId2"/>
          <a:stretch>
            <a:fillRect/>
          </a:stretch>
        </p:blipFill>
        <p:spPr>
          <a:xfrm>
            <a:off x="1188720" y="1123961"/>
            <a:ext cx="4907280" cy="5530559"/>
          </a:xfrm>
          <a:prstGeom prst="rect">
            <a:avLst/>
          </a:prstGeom>
        </p:spPr>
      </p:pic>
    </p:spTree>
    <p:extLst>
      <p:ext uri="{BB962C8B-B14F-4D97-AF65-F5344CB8AC3E}">
        <p14:creationId xmlns:p14="http://schemas.microsoft.com/office/powerpoint/2010/main" val="4195693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7F097-3761-D345-1DEF-29387FD2D9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EB7D40-EDEF-C12E-A3D8-AADF3A336962}"/>
              </a:ext>
            </a:extLst>
          </p:cNvPr>
          <p:cNvSpPr txBox="1"/>
          <p:nvPr/>
        </p:nvSpPr>
        <p:spPr>
          <a:xfrm>
            <a:off x="960120" y="379215"/>
            <a:ext cx="1037844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KEY FEATURES &amp; TECHNOLOGY STACK</a:t>
            </a:r>
          </a:p>
        </p:txBody>
      </p:sp>
      <p:sp>
        <p:nvSpPr>
          <p:cNvPr id="13" name="TextBox 12">
            <a:extLst>
              <a:ext uri="{FF2B5EF4-FFF2-40B4-BE49-F238E27FC236}">
                <a16:creationId xmlns:a16="http://schemas.microsoft.com/office/drawing/2014/main" id="{E839E1DD-7376-497C-1F4D-530FA87725D2}"/>
              </a:ext>
            </a:extLst>
          </p:cNvPr>
          <p:cNvSpPr txBox="1"/>
          <p:nvPr/>
        </p:nvSpPr>
        <p:spPr>
          <a:xfrm>
            <a:off x="960120" y="1322129"/>
            <a:ext cx="8813800" cy="2308324"/>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KEY FEATURES:</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AI Flood Prediction</a:t>
            </a:r>
            <a:r>
              <a:rPr lang="en-IN" sz="2000" dirty="0">
                <a:latin typeface="Times New Roman" panose="02020603050405020304" pitchFamily="18" charset="0"/>
                <a:cs typeface="Times New Roman" panose="02020603050405020304" pitchFamily="18" charset="0"/>
              </a:rPr>
              <a:t> – Predicts flood-prone areas using AI and real-time data.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Flood Risk Mapping</a:t>
            </a:r>
            <a:r>
              <a:rPr lang="en-IN" sz="2000" dirty="0">
                <a:latin typeface="Times New Roman" panose="02020603050405020304" pitchFamily="18" charset="0"/>
                <a:cs typeface="Times New Roman" panose="02020603050405020304" pitchFamily="18" charset="0"/>
              </a:rPr>
              <a:t> – Displays live flood severity on an interactive map.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Smart Navigation</a:t>
            </a:r>
            <a:r>
              <a:rPr lang="en-IN" sz="2000" dirty="0">
                <a:latin typeface="Times New Roman" panose="02020603050405020304" pitchFamily="18" charset="0"/>
                <a:cs typeface="Times New Roman" panose="02020603050405020304" pitchFamily="18" charset="0"/>
              </a:rPr>
              <a:t> – Suggests safe alternative routes during flooding.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Emergency Alerts</a:t>
            </a:r>
            <a:r>
              <a:rPr lang="en-IN" sz="2000" dirty="0">
                <a:latin typeface="Times New Roman" panose="02020603050405020304" pitchFamily="18" charset="0"/>
                <a:cs typeface="Times New Roman" panose="02020603050405020304" pitchFamily="18" charset="0"/>
              </a:rPr>
              <a:t> – Sends instant warnings to citizens and authorities.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Citizen Reporting</a:t>
            </a:r>
            <a:r>
              <a:rPr lang="en-IN" sz="2000" dirty="0">
                <a:latin typeface="Times New Roman" panose="02020603050405020304" pitchFamily="18" charset="0"/>
                <a:cs typeface="Times New Roman" panose="02020603050405020304" pitchFamily="18" charset="0"/>
              </a:rPr>
              <a:t> – Enables GPS-based flood reporting with photos.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Municipal Dashboard</a:t>
            </a:r>
            <a:r>
              <a:rPr lang="en-IN" sz="2000" dirty="0">
                <a:latin typeface="Times New Roman" panose="02020603050405020304" pitchFamily="18" charset="0"/>
                <a:cs typeface="Times New Roman" panose="02020603050405020304" pitchFamily="18" charset="0"/>
              </a:rPr>
              <a:t> – Real-time monitoring and emergency management.</a:t>
            </a:r>
          </a:p>
        </p:txBody>
      </p:sp>
      <p:sp>
        <p:nvSpPr>
          <p:cNvPr id="18" name="TextBox 17">
            <a:extLst>
              <a:ext uri="{FF2B5EF4-FFF2-40B4-BE49-F238E27FC236}">
                <a16:creationId xmlns:a16="http://schemas.microsoft.com/office/drawing/2014/main" id="{103553DB-72D4-BE93-F7AA-86BD64386474}"/>
              </a:ext>
            </a:extLst>
          </p:cNvPr>
          <p:cNvSpPr txBox="1"/>
          <p:nvPr/>
        </p:nvSpPr>
        <p:spPr>
          <a:xfrm>
            <a:off x="960120" y="3865482"/>
            <a:ext cx="6106160" cy="2616101"/>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TECHNOLOGY STACK:</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Frontend:</a:t>
            </a:r>
            <a:r>
              <a:rPr lang="en-IN" sz="2000" dirty="0">
                <a:latin typeface="Times New Roman" panose="02020603050405020304" pitchFamily="18" charset="0"/>
                <a:cs typeface="Times New Roman" panose="02020603050405020304" pitchFamily="18" charset="0"/>
              </a:rPr>
              <a:t> React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Backend:</a:t>
            </a:r>
            <a:r>
              <a:rPr lang="en-IN" sz="2000" dirty="0">
                <a:latin typeface="Times New Roman" panose="02020603050405020304" pitchFamily="18" charset="0"/>
                <a:cs typeface="Times New Roman" panose="02020603050405020304" pitchFamily="18" charset="0"/>
              </a:rPr>
              <a:t> Flask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AI:</a:t>
            </a:r>
            <a:r>
              <a:rPr lang="en-IN" sz="2000" dirty="0">
                <a:latin typeface="Times New Roman" panose="02020603050405020304" pitchFamily="18" charset="0"/>
                <a:cs typeface="Times New Roman" panose="02020603050405020304" pitchFamily="18" charset="0"/>
              </a:rPr>
              <a:t> Python, TensorFlow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Database:</a:t>
            </a:r>
            <a:r>
              <a:rPr lang="en-IN" sz="2000" dirty="0">
                <a:latin typeface="Times New Roman" panose="02020603050405020304" pitchFamily="18" charset="0"/>
                <a:cs typeface="Times New Roman" panose="02020603050405020304" pitchFamily="18" charset="0"/>
              </a:rPr>
              <a:t> Firebase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Maps:</a:t>
            </a:r>
            <a:r>
              <a:rPr lang="en-IN" sz="2000" dirty="0">
                <a:latin typeface="Times New Roman" panose="02020603050405020304" pitchFamily="18" charset="0"/>
                <a:cs typeface="Times New Roman" panose="02020603050405020304" pitchFamily="18" charset="0"/>
              </a:rPr>
              <a:t> Google Maps API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IoT:</a:t>
            </a:r>
            <a:r>
              <a:rPr lang="en-IN" sz="2000" dirty="0">
                <a:latin typeface="Times New Roman" panose="02020603050405020304" pitchFamily="18" charset="0"/>
                <a:cs typeface="Times New Roman" panose="02020603050405020304" pitchFamily="18" charset="0"/>
              </a:rPr>
              <a:t> ESP32 Sensors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Cloud:</a:t>
            </a:r>
            <a:r>
              <a:rPr lang="en-IN" sz="2000" dirty="0">
                <a:latin typeface="Times New Roman" panose="02020603050405020304" pitchFamily="18" charset="0"/>
                <a:cs typeface="Times New Roman" panose="02020603050405020304" pitchFamily="18" charset="0"/>
              </a:rPr>
              <a:t> AWS</a:t>
            </a:r>
          </a:p>
        </p:txBody>
      </p:sp>
    </p:spTree>
    <p:extLst>
      <p:ext uri="{BB962C8B-B14F-4D97-AF65-F5344CB8AC3E}">
        <p14:creationId xmlns:p14="http://schemas.microsoft.com/office/powerpoint/2010/main" val="747978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98A46-B673-C029-426E-9C42987560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F7FEB9-84E9-DFD9-F54D-8F7509C2CE6A}"/>
              </a:ext>
            </a:extLst>
          </p:cNvPr>
          <p:cNvSpPr txBox="1"/>
          <p:nvPr/>
        </p:nvSpPr>
        <p:spPr>
          <a:xfrm>
            <a:off x="797560" y="115034"/>
            <a:ext cx="754380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IMPACT AND INNOVATION</a:t>
            </a:r>
          </a:p>
        </p:txBody>
      </p:sp>
      <p:sp>
        <p:nvSpPr>
          <p:cNvPr id="6" name="TextBox 5">
            <a:extLst>
              <a:ext uri="{FF2B5EF4-FFF2-40B4-BE49-F238E27FC236}">
                <a16:creationId xmlns:a16="http://schemas.microsoft.com/office/drawing/2014/main" id="{CF9818BA-7415-74AF-8227-48785A048232}"/>
              </a:ext>
            </a:extLst>
          </p:cNvPr>
          <p:cNvSpPr txBox="1"/>
          <p:nvPr/>
        </p:nvSpPr>
        <p:spPr>
          <a:xfrm>
            <a:off x="797560" y="917912"/>
            <a:ext cx="11130280" cy="5940088"/>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Innovation</a:t>
            </a:r>
          </a:p>
          <a:p>
            <a:pPr>
              <a:buNone/>
            </a:pPr>
            <a:r>
              <a:rPr lang="en-IN" sz="2000" dirty="0">
                <a:latin typeface="Times New Roman" panose="02020603050405020304" pitchFamily="18" charset="0"/>
                <a:cs typeface="Times New Roman" panose="02020603050405020304" pitchFamily="18" charset="0"/>
              </a:rPr>
              <a:t>Flood Pulse AI combines Artificial Intelligence, IoT, geospatial mapping, and citizen participation into a single integrated platform capable of predicting urban floods before they occur.</a:t>
            </a:r>
          </a:p>
          <a:p>
            <a:pPr>
              <a:buNone/>
            </a:pPr>
            <a:r>
              <a:rPr lang="en-IN" sz="2000" dirty="0">
                <a:latin typeface="Times New Roman" panose="02020603050405020304" pitchFamily="18" charset="0"/>
                <a:cs typeface="Times New Roman" panose="02020603050405020304" pitchFamily="18" charset="0"/>
              </a:rPr>
              <a:t>Unlike conventional flood monitoring systems that respond after flooding begins, Flood Pulse AI enables proactive decision-making through continuous monitoring and predictive analytics.</a:t>
            </a: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Expected Impact</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Reduced response time during emergencies.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Improved public safety through early warning systems.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Optimized traffic management using safe route recommendations.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Better coordination between citizens and municipal authorities.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Data-driven planning for future urban infrastructure. </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Target Users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Municipal Corporations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Disaster Management Authorities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Emergency Response Teams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Smart City Administrators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General Public </a:t>
            </a:r>
          </a:p>
        </p:txBody>
      </p:sp>
    </p:spTree>
    <p:extLst>
      <p:ext uri="{BB962C8B-B14F-4D97-AF65-F5344CB8AC3E}">
        <p14:creationId xmlns:p14="http://schemas.microsoft.com/office/powerpoint/2010/main" val="3928956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325D3-ECD0-1840-1DC7-0D81DCF1BE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D83B19-505A-870F-BBC5-B4FBCFCC1B53}"/>
              </a:ext>
            </a:extLst>
          </p:cNvPr>
          <p:cNvSpPr txBox="1"/>
          <p:nvPr/>
        </p:nvSpPr>
        <p:spPr>
          <a:xfrm>
            <a:off x="685800" y="387468"/>
            <a:ext cx="610616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FUTURE SCOPE</a:t>
            </a:r>
          </a:p>
        </p:txBody>
      </p:sp>
      <p:sp>
        <p:nvSpPr>
          <p:cNvPr id="5" name="TextBox 4">
            <a:extLst>
              <a:ext uri="{FF2B5EF4-FFF2-40B4-BE49-F238E27FC236}">
                <a16:creationId xmlns:a16="http://schemas.microsoft.com/office/drawing/2014/main" id="{BF066DC0-26D1-699A-B3E4-679989A39FD3}"/>
              </a:ext>
            </a:extLst>
          </p:cNvPr>
          <p:cNvSpPr txBox="1"/>
          <p:nvPr/>
        </p:nvSpPr>
        <p:spPr>
          <a:xfrm>
            <a:off x="604520" y="1361441"/>
            <a:ext cx="11013440" cy="4401205"/>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Future Enhancements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Drone-based flood surveillance for inaccessible areas.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AI-powered rainfall forecasting with improved prediction accuracy.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Integration with Smart City Command and Control </a:t>
            </a:r>
            <a:r>
              <a:rPr lang="en-IN" sz="2000" dirty="0" err="1">
                <a:latin typeface="Times New Roman" panose="02020603050405020304" pitchFamily="18" charset="0"/>
                <a:cs typeface="Times New Roman" panose="02020603050405020304" pitchFamily="18" charset="0"/>
              </a:rPr>
              <a:t>Centers</a:t>
            </a:r>
            <a:r>
              <a:rPr lang="en-IN"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Digital Twin simulation for flood planning and infrastructure management.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Multilingual voice-based emergency notifications.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Automated emergency resource allocation using predictive analytics.</a:t>
            </a:r>
          </a:p>
          <a:p>
            <a:r>
              <a:rPr lang="en-IN" sz="2000" dirty="0">
                <a:latin typeface="Times New Roman" panose="02020603050405020304" pitchFamily="18" charset="0"/>
                <a:cs typeface="Times New Roman" panose="02020603050405020304" pitchFamily="18" charset="0"/>
              </a:rPr>
              <a:t> </a:t>
            </a:r>
          </a:p>
          <a:p>
            <a:pPr>
              <a:buNone/>
            </a:pPr>
            <a:r>
              <a:rPr lang="en-IN" sz="2000" b="1" dirty="0">
                <a:latin typeface="Times New Roman" panose="02020603050405020304" pitchFamily="18" charset="0"/>
                <a:cs typeface="Times New Roman" panose="02020603050405020304" pitchFamily="18" charset="0"/>
              </a:rPr>
              <a:t>Conclusion</a:t>
            </a:r>
          </a:p>
          <a:p>
            <a:pPr>
              <a:buNone/>
            </a:pPr>
            <a:r>
              <a:rPr lang="en-IN" sz="2000" dirty="0">
                <a:latin typeface="Times New Roman" panose="02020603050405020304" pitchFamily="18" charset="0"/>
                <a:cs typeface="Times New Roman" panose="02020603050405020304" pitchFamily="18" charset="0"/>
              </a:rPr>
              <a:t>Flood Pulse AI provides an intelligent, scalable, and practical solution for urban flood management by leveraging Artificial Intelligence, IoT, and real-time data analytics. The platform enhances disaster preparedness, improves emergency response, and contributes to building resilient and sustainable smart cities.</a:t>
            </a:r>
          </a:p>
          <a:p>
            <a:pPr>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8997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26560" y="2113280"/>
            <a:ext cx="4220210" cy="1027191"/>
          </a:xfrm>
        </p:spPr>
        <p:txBody>
          <a:bodyPr/>
          <a:lstStyle/>
          <a:p>
            <a:r>
              <a:rPr lang="en-US" sz="4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102</TotalTime>
  <Words>659</Words>
  <Application>Microsoft Office PowerPoint</Application>
  <PresentationFormat>Widescreen</PresentationFormat>
  <Paragraphs>95</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Tenorite</vt:lpstr>
      <vt:lpstr>Times New Roman</vt:lpstr>
      <vt:lpstr>Monoline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Meghna kotian</dc:creator>
  <cp:lastModifiedBy>Meghna kotian</cp:lastModifiedBy>
  <cp:revision>2</cp:revision>
  <dcterms:created xsi:type="dcterms:W3CDTF">2026-07-25T17:40:08Z</dcterms:created>
  <dcterms:modified xsi:type="dcterms:W3CDTF">2026-07-26T05:32:34Z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